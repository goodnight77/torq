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3FB950"/>
                </a:solidFill>
                <a:latin typeface="Segoe UI"/>
              </a:rPr>
              <a:t>TORQ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383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EDF3"/>
                </a:solidFill>
                <a:latin typeface="Segoe UI"/>
              </a:rPr>
              <a:t>Fault-to-Fix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114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B98A5"/>
                </a:solidFill>
                <a:latin typeface="Segoe UI"/>
              </a:rPr>
              <a:t>From fault code to fixed: autonomous machine diagnosis and repair dispatch.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852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B98A5"/>
                </a:solidFill>
                <a:latin typeface="Segoe UI"/>
              </a:rPr>
              <a:t>Automate or Die Hackathon  ·  Team La Scaloneta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FB950"/>
                </a:solidFill>
                <a:latin typeface="Segoe UI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6EDF3"/>
                </a:solidFill>
                <a:latin typeface="Segoe UI"/>
              </a:rPr>
              <a:t>The most expensive 30 minutes in manufacturing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6EDF3"/>
                </a:solidFill>
                <a:latin typeface="Segoe UI"/>
              </a:rPr>
              <a:t>•  Unplanned downtime costs hundreds of dollars per minute.</a:t>
            </a:r>
          </a:p>
          <a:p>
            <a:pPr algn="l"/>
            <a:r>
              <a:rPr sz="2000" b="0">
                <a:solidFill>
                  <a:srgbClr val="E6EDF3"/>
                </a:solidFill>
                <a:latin typeface="Segoe UI"/>
              </a:rPr>
              <a:t>•  When a machine faults, diagnosis is still manual: ~30 min digging through 500-page manuals while the line is stopped.</a:t>
            </a:r>
          </a:p>
          <a:p>
            <a:pPr algn="l"/>
            <a:r>
              <a:rPr sz="2000" b="0">
                <a:solidFill>
                  <a:srgbClr val="E6EDF3"/>
                </a:solidFill>
                <a:latin typeface="Segoe UI"/>
              </a:rPr>
              <a:t>•  Expert know-how walks out the door; the same fault is re-diagnosed from scratch every time.</a:t>
            </a:r>
          </a:p>
          <a:p>
            <a:pPr algn="l"/>
            <a:r>
              <a:rPr sz="2000" b="0">
                <a:solidFill>
                  <a:srgbClr val="E6EDF3"/>
                </a:solidFill>
                <a:latin typeface="Segoe UI"/>
              </a:rPr>
              <a:t>•  Dispatch is improvised: 15-60 min of phone calls to find the right technician.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FB950"/>
                </a:solidFill>
                <a:latin typeface="Segoe UI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6EDF3"/>
                </a:solidFill>
                <a:latin typeface="Segoe UI"/>
              </a:rPr>
              <a:t>A zero-touch fault-to-fix pipeline, not a chatbot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6EDF3"/>
                </a:solidFill>
                <a:latin typeface="Segoe UI"/>
              </a:rPr>
              <a:t>•  Machine faults (MQTT) trigger an AI agent automatically.</a:t>
            </a:r>
          </a:p>
          <a:p>
            <a:pPr algn="l"/>
            <a:r>
              <a:rPr sz="2000" b="0">
                <a:solidFill>
                  <a:srgbClr val="E6EDF3"/>
                </a:solidFill>
                <a:latin typeface="Segoe UI"/>
              </a:rPr>
              <a:t>•  It reads plant manuals + repair history via MCP, on-premise.</a:t>
            </a:r>
          </a:p>
          <a:p>
            <a:pPr algn="l"/>
            <a:r>
              <a:rPr sz="2000" b="0">
                <a:solidFill>
                  <a:srgbClr val="E6EDF3"/>
                </a:solidFill>
                <a:latin typeface="Segoe UI"/>
              </a:rPr>
              <a:t>•  Generates a trilingual (FR/AR/EN) work order: steps, parts, safety.</a:t>
            </a:r>
          </a:p>
          <a:p>
            <a:pPr algn="l"/>
            <a:r>
              <a:rPr sz="2000" b="0">
                <a:solidFill>
                  <a:srgbClr val="E6EDF3"/>
                </a:solidFill>
                <a:latin typeface="Segoe UI"/>
              </a:rPr>
              <a:t>•  One-tap supervisor approval, then skill-matched dispatch to the on-shift technician's phone.</a:t>
            </a:r>
          </a:p>
          <a:p>
            <a:pPr algn="l"/>
            <a:r>
              <a:rPr sz="2000" b="0">
                <a:solidFill>
                  <a:srgbClr val="E6EDF3"/>
                </a:solidFill>
                <a:latin typeface="Segoe UI"/>
              </a:rPr>
              <a:t>•  Repair outcomes feed back, so every future diagnosis gets better.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FB950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6EDF3"/>
                </a:solidFill>
                <a:latin typeface="Segoe U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6EDF3"/>
                </a:solidFill>
                <a:latin typeface="Segoe UI"/>
              </a:rPr>
              <a:t>•  Fault event  -&gt;  Diagnosis agent (DeepSeek + retrieval)</a:t>
            </a:r>
          </a:p>
          <a:p>
            <a:pPr algn="l"/>
            <a:r>
              <a:rPr sz="2000" b="0">
                <a:solidFill>
                  <a:srgbClr val="E6EDF3"/>
                </a:solidFill>
                <a:latin typeface="Segoe UI"/>
              </a:rPr>
              <a:t>•  MCP knowledge server: manuals + history, data stays local</a:t>
            </a:r>
          </a:p>
          <a:p>
            <a:pPr algn="l"/>
            <a:r>
              <a:rPr sz="2000" b="0">
                <a:solidFill>
                  <a:srgbClr val="E6EDF3"/>
                </a:solidFill>
                <a:latin typeface="Segoe UI"/>
              </a:rPr>
              <a:t>•  Work order + trilingual PDF  -&gt;  supervisor approval queue</a:t>
            </a:r>
          </a:p>
          <a:p>
            <a:pPr algn="l"/>
            <a:r>
              <a:rPr sz="2000" b="0">
                <a:solidFill>
                  <a:srgbClr val="E6EDF3"/>
                </a:solidFill>
                <a:latin typeface="Segoe UI"/>
              </a:rPr>
              <a:t>•  Skill-matched routing  -&gt;  WhatsApp / SMS dispatch (Twilio)</a:t>
            </a:r>
          </a:p>
          <a:p>
            <a:pPr algn="l"/>
            <a:r>
              <a:rPr sz="2000" b="0">
                <a:solidFill>
                  <a:srgbClr val="E6EDF3"/>
                </a:solidFill>
                <a:latin typeface="Segoe UI"/>
              </a:rPr>
              <a:t>•  Outcome feedback  -&gt;  self-improving knowledge base</a:t>
            </a:r>
          </a:p>
          <a:p>
            <a:pPr algn="l"/>
            <a:r>
              <a:rPr sz="2000" b="0">
                <a:solidFill>
                  <a:srgbClr val="E6EDF3"/>
                </a:solidFill>
                <a:latin typeface="Segoe UI"/>
              </a:rPr>
              <a:t>•  Live downtime dashboard: time-to-diagnosis, MTTR, resolution rate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FB950"/>
                </a:solidFill>
                <a:latin typeface="Segoe UI"/>
              </a:rPr>
              <a:t>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6EDF3"/>
                </a:solidFill>
                <a:latin typeface="Segoe UI"/>
              </a:rPr>
              <a:t>What makes TORQ different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6EDF3"/>
                </a:solidFill>
                <a:latin typeface="Segoe UI"/>
              </a:rPr>
              <a:t>•  Prediction to autonomous action: it diagnoses AND dispatches, the human only approves.</a:t>
            </a:r>
          </a:p>
          <a:p>
            <a:pPr algn="l"/>
            <a:r>
              <a:rPr sz="2000" b="0">
                <a:solidFill>
                  <a:srgbClr val="E6EDF3"/>
                </a:solidFill>
                <a:latin typeface="Segoe UI"/>
              </a:rPr>
              <a:t>•  MCP as an on-premise trust layer: proprietary manuals never leave the plant.</a:t>
            </a:r>
          </a:p>
          <a:p>
            <a:pPr algn="l"/>
            <a:r>
              <a:rPr sz="2000" b="0">
                <a:solidFill>
                  <a:srgbClr val="E6EDF3"/>
                </a:solidFill>
                <a:latin typeface="Segoe UI"/>
              </a:rPr>
              <a:t>•  Human-in-the-loop by design: speed of an agent, accountability of a manager.</a:t>
            </a:r>
          </a:p>
          <a:p>
            <a:pPr algn="l"/>
            <a:r>
              <a:rPr sz="2000" b="0">
                <a:solidFill>
                  <a:srgbClr val="E6EDF3"/>
                </a:solidFill>
                <a:latin typeface="Segoe UI"/>
              </a:rPr>
              <a:t>•  Self-improving: tribal knowledge becomes a durable plant asset.</a:t>
            </a:r>
          </a:p>
          <a:p>
            <a:pPr algn="l"/>
            <a:r>
              <a:rPr sz="2000" b="0">
                <a:solidFill>
                  <a:srgbClr val="E6EDF3"/>
                </a:solidFill>
                <a:latin typeface="Segoe UI"/>
              </a:rPr>
              <a:t>•  Trilingual (FR/AR/EN) for the real North African shop floor.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FB950"/>
                </a:solidFill>
                <a:latin typeface="Segoe UI"/>
              </a:rPr>
              <a:t>QUANTIFIED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6EDF3"/>
                </a:solidFill>
                <a:latin typeface="Segoe UI"/>
              </a:rPr>
              <a:t>Measurable to the minute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6400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F1720"/>
                          </a:solidFill>
                          <a:latin typeface="Segoe UI"/>
                        </a:rPr>
                        <a:t>Metric</a:t>
                      </a:r>
                    </a:p>
                  </a:txBody>
                  <a:tcPr>
                    <a:solidFill>
                      <a:srgbClr val="3FB9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F1720"/>
                          </a:solidFill>
                          <a:latin typeface="Segoe UI"/>
                        </a:rPr>
                        <a:t>Today</a:t>
                      </a:r>
                    </a:p>
                  </a:txBody>
                  <a:tcPr>
                    <a:solidFill>
                      <a:srgbClr val="3FB9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F1720"/>
                          </a:solidFill>
                          <a:latin typeface="Segoe UI"/>
                        </a:rPr>
                        <a:t>With TORQ</a:t>
                      </a:r>
                    </a:p>
                  </a:txBody>
                  <a:tcPr>
                    <a:solidFill>
                      <a:srgbClr val="3FB95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E6EDF3"/>
                          </a:solidFill>
                          <a:latin typeface="Segoe UI"/>
                        </a:rPr>
                        <a:t>Time to diagnosis</a:t>
                      </a:r>
                    </a:p>
                  </a:txBody>
                  <a:tcPr>
                    <a:solidFill>
                      <a:srgbClr val="111C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E6EDF3"/>
                          </a:solidFill>
                          <a:latin typeface="Segoe UI"/>
                        </a:rPr>
                        <a:t>~30 min</a:t>
                      </a:r>
                    </a:p>
                  </a:txBody>
                  <a:tcPr>
                    <a:solidFill>
                      <a:srgbClr val="111C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E6EDF3"/>
                          </a:solidFill>
                          <a:latin typeface="Segoe UI"/>
                        </a:rPr>
                        <a:t>&lt; 1 min (~95% faster)</a:t>
                      </a:r>
                    </a:p>
                  </a:txBody>
                  <a:tcPr>
                    <a:solidFill>
                      <a:srgbClr val="111C2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E6EDF3"/>
                          </a:solidFill>
                          <a:latin typeface="Segoe UI"/>
                        </a:rPr>
                        <a:t>Dispatch lag</a:t>
                      </a:r>
                    </a:p>
                  </a:txBody>
                  <a:tcPr>
                    <a:solidFill>
                      <a:srgbClr val="111C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E6EDF3"/>
                          </a:solidFill>
                          <a:latin typeface="Segoe UI"/>
                        </a:rPr>
                        <a:t>15-60 min</a:t>
                      </a:r>
                    </a:p>
                  </a:txBody>
                  <a:tcPr>
                    <a:solidFill>
                      <a:srgbClr val="111C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E6EDF3"/>
                          </a:solidFill>
                          <a:latin typeface="Segoe UI"/>
                        </a:rPr>
                        <a:t>Instant, skill-matched</a:t>
                      </a:r>
                    </a:p>
                  </a:txBody>
                  <a:tcPr>
                    <a:solidFill>
                      <a:srgbClr val="111C2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E6EDF3"/>
                          </a:solidFill>
                          <a:latin typeface="Segoe UI"/>
                        </a:rPr>
                        <a:t>Mean time to repair</a:t>
                      </a:r>
                    </a:p>
                  </a:txBody>
                  <a:tcPr>
                    <a:solidFill>
                      <a:srgbClr val="111C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E6EDF3"/>
                          </a:solidFill>
                          <a:latin typeface="Segoe UI"/>
                        </a:rPr>
                        <a:t>Baseline</a:t>
                      </a:r>
                    </a:p>
                  </a:txBody>
                  <a:tcPr>
                    <a:solidFill>
                      <a:srgbClr val="111C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E6EDF3"/>
                          </a:solidFill>
                          <a:latin typeface="Segoe UI"/>
                        </a:rPr>
                        <a:t>20-30% lower</a:t>
                      </a:r>
                    </a:p>
                  </a:txBody>
                  <a:tcPr>
                    <a:solidFill>
                      <a:srgbClr val="111C2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E6EDF3"/>
                          </a:solidFill>
                          <a:latin typeface="Segoe UI"/>
                        </a:rPr>
                        <a:t>Knowledge retention</a:t>
                      </a:r>
                    </a:p>
                  </a:txBody>
                  <a:tcPr>
                    <a:solidFill>
                      <a:srgbClr val="111C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E6EDF3"/>
                          </a:solidFill>
                          <a:latin typeface="Segoe UI"/>
                        </a:rPr>
                        <a:t>Lost at turnover</a:t>
                      </a:r>
                    </a:p>
                  </a:txBody>
                  <a:tcPr>
                    <a:solidFill>
                      <a:srgbClr val="111C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E6EDF3"/>
                          </a:solidFill>
                          <a:latin typeface="Segoe UI"/>
                        </a:rPr>
                        <a:t>100% of logged fixes</a:t>
                      </a:r>
                    </a:p>
                  </a:txBody>
                  <a:tcPr>
                    <a:solidFill>
                      <a:srgbClr val="111C2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E6EDF3"/>
                          </a:solidFill>
                          <a:latin typeface="Segoe UI"/>
                        </a:rPr>
                        <a:t>Supervisor admin</a:t>
                      </a:r>
                    </a:p>
                  </a:txBody>
                  <a:tcPr>
                    <a:solidFill>
                      <a:srgbClr val="111C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E6EDF3"/>
                          </a:solidFill>
                          <a:latin typeface="Segoe UI"/>
                        </a:rPr>
                        <a:t>Per work order</a:t>
                      </a:r>
                    </a:p>
                  </a:txBody>
                  <a:tcPr>
                    <a:solidFill>
                      <a:srgbClr val="111C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E6EDF3"/>
                          </a:solidFill>
                          <a:latin typeface="Segoe UI"/>
                        </a:rPr>
                        <a:t>~5 h saved / week</a:t>
                      </a:r>
                    </a:p>
                  </a:txBody>
                  <a:tcPr>
                    <a:solidFill>
                      <a:srgbClr val="111C2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943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8A5"/>
                </a:solidFill>
                <a:latin typeface="Segoe UI"/>
              </a:rPr>
              <a:t>Worked example: ~$78,000/year of downtime avoided in a 10-fault/week plant, from a software-only tool.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FB950"/>
                </a:solidFill>
                <a:latin typeface="Segoe UI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6EDF3"/>
                </a:solidFill>
                <a:latin typeface="Segoe UI"/>
              </a:rPr>
              <a:t>See it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6EDF3"/>
                </a:solidFill>
                <a:latin typeface="Segoe UI"/>
              </a:rPr>
              <a:t>•  A machine faults live (MQTT). No human triggers it.</a:t>
            </a:r>
          </a:p>
          <a:p>
            <a:pPr algn="l"/>
            <a:r>
              <a:rPr sz="2000" b="0">
                <a:solidFill>
                  <a:srgbClr val="E6EDF3"/>
                </a:solidFill>
                <a:latin typeface="Segoe UI"/>
              </a:rPr>
              <a:t>•  Seconds later the diagnosis and work order appear in the approval queue.</a:t>
            </a:r>
          </a:p>
          <a:p>
            <a:pPr algn="l"/>
            <a:r>
              <a:rPr sz="2000" b="0">
                <a:solidFill>
                  <a:srgbClr val="E6EDF3"/>
                </a:solidFill>
                <a:latin typeface="Segoe UI"/>
              </a:rPr>
              <a:t>•  Supervisor taps Approve.</a:t>
            </a:r>
          </a:p>
          <a:p>
            <a:pPr algn="l"/>
            <a:r>
              <a:rPr sz="2000" b="0">
                <a:solidFill>
                  <a:srgbClr val="E6EDF3"/>
                </a:solidFill>
                <a:latin typeface="Segoe UI"/>
              </a:rPr>
              <a:t>•  A technician's phone buzzes with the full repair procedure, in Arabic.</a:t>
            </a:r>
          </a:p>
          <a:p>
            <a:pPr algn="l"/>
            <a:r>
              <a:rPr sz="2000" b="0">
                <a:solidFill>
                  <a:srgbClr val="E6EDF3"/>
                </a:solidFill>
                <a:latin typeface="Segoe UI"/>
              </a:rPr>
              <a:t>•  The dashboard shows time-to-diagnosis collapse from 30 min to under a minute.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FB950"/>
                </a:solidFill>
                <a:latin typeface="Segoe UI"/>
              </a:rPr>
              <a:t>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6EDF3"/>
                </a:solidFill>
                <a:latin typeface="Segoe UI"/>
              </a:rPr>
              <a:t>Built to sell, built for $0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6EDF3"/>
                </a:solidFill>
                <a:latin typeface="Segoe UI"/>
              </a:rPr>
              <a:t>•  Buyer: maintenance managers of mid-size legacy plants (50-500 staff).</a:t>
            </a:r>
          </a:p>
          <a:p>
            <a:pPr algn="l"/>
            <a:r>
              <a:rPr sz="2000" b="0">
                <a:solidFill>
                  <a:srgbClr val="E6EDF3"/>
                </a:solidFill>
                <a:latin typeface="Segoe UI"/>
              </a:rPr>
              <a:t>•  Textile, agro-food, plastics, mechanical: Tunisia, North Africa, then global.</a:t>
            </a:r>
          </a:p>
          <a:p>
            <a:pPr algn="l"/>
            <a:r>
              <a:rPr sz="2000" b="0">
                <a:solidFill>
                  <a:srgbClr val="E6EDF3"/>
                </a:solidFill>
                <a:latin typeface="Segoe UI"/>
              </a:rPr>
              <a:t>•  Needs only the fault code and the paper-era manual, digitized once.</a:t>
            </a:r>
          </a:p>
          <a:p>
            <a:pPr algn="l"/>
            <a:r>
              <a:rPr sz="2000" b="0">
                <a:solidFill>
                  <a:srgbClr val="E6EDF3"/>
                </a:solidFill>
                <a:latin typeface="Segoe UI"/>
              </a:rPr>
              <a:t>•  Entire stack is free-tier: $0 infrastructure cost.</a:t>
            </a:r>
          </a:p>
          <a:p>
            <a:pPr algn="l"/>
            <a:r>
              <a:rPr sz="2000" b="0">
                <a:solidFill>
                  <a:srgbClr val="E6EDF3"/>
                </a:solidFill>
                <a:latin typeface="Segoe UI"/>
              </a:rPr>
              <a:t>•  Deploys in days, priced for SMEs, complements existing CMMS.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FB950"/>
                </a:solidFill>
                <a:latin typeface="Segoe UI"/>
              </a:rPr>
              <a:t>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6EDF3"/>
                </a:solidFill>
                <a:latin typeface="Segoe UI"/>
              </a:rPr>
              <a:t>Why we 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6EDF3"/>
                </a:solidFill>
                <a:latin typeface="Segoe UI"/>
              </a:rPr>
              <a:t>•  Enterprise CMMS (Maximo, SAP): they track work, they don't diagnose it.</a:t>
            </a:r>
          </a:p>
          <a:p>
            <a:pPr algn="l"/>
            <a:r>
              <a:rPr sz="2000" b="0">
                <a:solidFill>
                  <a:srgbClr val="E6EDF3"/>
                </a:solidFill>
                <a:latin typeface="Segoe UI"/>
              </a:rPr>
              <a:t>•  Modern CMMS (Fiix, UpKeep, MaintainX): still human-authored work orders.</a:t>
            </a:r>
          </a:p>
          <a:p>
            <a:pPr algn="l"/>
            <a:r>
              <a:rPr sz="2000" b="0">
                <a:solidFill>
                  <a:srgbClr val="E6EDF3"/>
                </a:solidFill>
                <a:latin typeface="Segoe UI"/>
              </a:rPr>
              <a:t>•  Generic AI chatbots: need manuals in the cloud, know nothing of the plant, act only when asked.</a:t>
            </a:r>
          </a:p>
          <a:p>
            <a:pPr algn="l"/>
            <a:r>
              <a:rPr sz="2000" b="0">
                <a:solidFill>
                  <a:srgbClr val="E6EDF3"/>
                </a:solidFill>
                <a:latin typeface="Segoe UI"/>
              </a:rPr>
              <a:t>•  TORQ is zero-touch, on-premise via MCP, and dispatches automatically.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6EDF3"/>
                </a:solidFill>
                <a:latin typeface="Segoe UI"/>
              </a:rPr>
              <a:t>TORQ turns the most expensive 30 minutes</a:t>
            </a:r>
          </a:p>
          <a:p>
            <a:pPr algn="l"/>
            <a:r>
              <a:rPr sz="4000" b="1">
                <a:solidFill>
                  <a:srgbClr val="E6EDF3"/>
                </a:solidFill>
                <a:latin typeface="Segoe UI"/>
              </a:rPr>
              <a:t>in manufacturing into 30 seconds.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FB950"/>
                </a:solidFill>
                <a:latin typeface="Segoe UI"/>
              </a:rPr>
              <a:t>From fault code to fixed.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